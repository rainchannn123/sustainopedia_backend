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8" r:id="rId5"/>
    <p:sldId id="260" r:id="rId6"/>
    <p:sldId id="259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27FD86-6DA1-C010-7687-CC626E9B536E}" v="1904" dt="2025-07-05T17:20:24.346"/>
    <p1510:client id="{F6E8F663-8FFA-1DD0-DE8D-743FC3F22E84}" v="103" dt="2025-07-07T03:58:04.2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5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12.10496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F4B94A-85F8-FBB4-6900-49AD067AE942}"/>
              </a:ext>
            </a:extLst>
          </p:cNvPr>
          <p:cNvSpPr txBox="1"/>
          <p:nvPr/>
        </p:nvSpPr>
        <p:spPr>
          <a:xfrm>
            <a:off x="302711" y="279748"/>
            <a:ext cx="62504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RAG Procedure 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BB4FB-8C47-6E80-D75F-8CDBAA6E65D4}"/>
              </a:ext>
            </a:extLst>
          </p:cNvPr>
          <p:cNvSpPr txBox="1"/>
          <p:nvPr/>
        </p:nvSpPr>
        <p:spPr>
          <a:xfrm>
            <a:off x="300624" y="853857"/>
            <a:ext cx="11563609" cy="62478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/>
              <a:t>Raw text -&gt; structured / categorized text</a:t>
            </a: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dirty="0"/>
              <a:t>Entity recognition </a:t>
            </a:r>
            <a:endParaRPr lang="en-US" sz="1600" dirty="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sz="1600" dirty="0">
                <a:ea typeface="+mn-lt"/>
                <a:cs typeface="+mn-lt"/>
              </a:rPr>
              <a:t>Section Segmentation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sz="1600" dirty="0">
                <a:ea typeface="+mn-lt"/>
                <a:cs typeface="+mn-lt"/>
              </a:rPr>
              <a:t>Text Chunking</a:t>
            </a:r>
          </a:p>
          <a:p>
            <a:r>
              <a:rPr lang="en-US" sz="1600" dirty="0">
                <a:ea typeface="+mn-lt"/>
                <a:cs typeface="+mn-lt"/>
              </a:rPr>
              <a:t>Tools (Python library):</a:t>
            </a:r>
          </a:p>
          <a:p>
            <a:pPr marL="342900" indent="-342900">
              <a:buAutoNum type="arabicPeriod"/>
            </a:pPr>
            <a:r>
              <a:rPr lang="en-US" sz="1600" err="1">
                <a:ea typeface="+mn-lt"/>
                <a:cs typeface="+mn-lt"/>
              </a:rPr>
              <a:t>ScaCy</a:t>
            </a:r>
            <a:endParaRPr lang="en-US" sz="160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sz="1600" dirty="0">
                <a:ea typeface="+mn-lt"/>
                <a:cs typeface="+mn-lt"/>
              </a:rPr>
              <a:t>GROBID</a:t>
            </a:r>
          </a:p>
          <a:p>
            <a:endParaRPr lang="en-US" sz="1600" dirty="0">
              <a:ea typeface="+mn-lt"/>
              <a:cs typeface="+mn-lt"/>
            </a:endParaRPr>
          </a:p>
          <a:p>
            <a:r>
              <a:rPr lang="en-US" sz="1600" b="1" dirty="0">
                <a:ea typeface="+mn-lt"/>
                <a:cs typeface="+mn-lt"/>
              </a:rPr>
              <a:t>Categorized test -&gt; formatted </a:t>
            </a:r>
            <a:r>
              <a:rPr lang="en-US" sz="1600" b="1" err="1">
                <a:ea typeface="+mn-lt"/>
                <a:cs typeface="+mn-lt"/>
              </a:rPr>
              <a:t>json</a:t>
            </a:r>
            <a:endParaRPr lang="en-US" sz="1600" b="1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sz="1600" dirty="0">
                <a:ea typeface="+mn-lt"/>
                <a:cs typeface="+mn-lt"/>
              </a:rPr>
              <a:t>Use python library '</a:t>
            </a:r>
            <a:r>
              <a:rPr lang="en-US" sz="1600" err="1">
                <a:ea typeface="+mn-lt"/>
                <a:cs typeface="+mn-lt"/>
              </a:rPr>
              <a:t>json</a:t>
            </a:r>
            <a:r>
              <a:rPr lang="en-US" sz="1600" dirty="0">
                <a:ea typeface="+mn-lt"/>
                <a:cs typeface="+mn-lt"/>
              </a:rPr>
              <a:t>' for text-</a:t>
            </a:r>
            <a:r>
              <a:rPr lang="en-US" sz="1600" err="1">
                <a:ea typeface="+mn-lt"/>
                <a:cs typeface="+mn-lt"/>
              </a:rPr>
              <a:t>json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converstion</a:t>
            </a:r>
            <a:endParaRPr lang="en-US" sz="1600" dirty="0" err="1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sz="1600" dirty="0">
                <a:ea typeface="+mn-lt"/>
                <a:cs typeface="+mn-lt"/>
              </a:rPr>
              <a:t>Use library 'from </a:t>
            </a:r>
            <a:r>
              <a:rPr lang="en-US" sz="1600" dirty="0" err="1">
                <a:ea typeface="+mn-lt"/>
                <a:cs typeface="+mn-lt"/>
              </a:rPr>
              <a:t>jsonschema</a:t>
            </a:r>
            <a:r>
              <a:rPr lang="en-US" sz="1600" dirty="0">
                <a:ea typeface="+mn-lt"/>
                <a:cs typeface="+mn-lt"/>
              </a:rPr>
              <a:t> import validate' to validate the correct </a:t>
            </a:r>
            <a:r>
              <a:rPr lang="en-US" sz="1600" dirty="0" err="1">
                <a:ea typeface="+mn-lt"/>
                <a:cs typeface="+mn-lt"/>
              </a:rPr>
              <a:t>json</a:t>
            </a:r>
            <a:r>
              <a:rPr lang="en-US" sz="1600" dirty="0">
                <a:ea typeface="+mn-lt"/>
                <a:cs typeface="+mn-lt"/>
              </a:rPr>
              <a:t> format before putting in DB</a:t>
            </a:r>
          </a:p>
          <a:p>
            <a:pPr marL="342900" indent="-342900">
              <a:buAutoNum type="arabicPeriod"/>
            </a:pPr>
            <a:r>
              <a:rPr lang="en-US" sz="1600" dirty="0">
                <a:ea typeface="+mn-lt"/>
                <a:cs typeface="+mn-lt"/>
              </a:rPr>
              <a:t>Store the </a:t>
            </a:r>
            <a:r>
              <a:rPr lang="en-US" sz="1600" dirty="0" err="1">
                <a:ea typeface="+mn-lt"/>
                <a:cs typeface="+mn-lt"/>
              </a:rPr>
              <a:t>json</a:t>
            </a:r>
            <a:r>
              <a:rPr lang="en-US" sz="1600" dirty="0">
                <a:ea typeface="+mn-lt"/>
                <a:cs typeface="+mn-lt"/>
              </a:rPr>
              <a:t> files in DB (suggest: MongoDB) (optional)</a:t>
            </a:r>
          </a:p>
          <a:p>
            <a:pPr marL="342900" indent="-342900">
              <a:buAutoNum type="arabicPeriod"/>
            </a:pPr>
            <a:endParaRPr lang="en-US" sz="1600" dirty="0">
              <a:ea typeface="+mn-lt"/>
              <a:cs typeface="+mn-lt"/>
            </a:endParaRPr>
          </a:p>
          <a:p>
            <a:r>
              <a:rPr lang="en-US" sz="1600" b="1" dirty="0">
                <a:ea typeface="+mn-lt"/>
                <a:cs typeface="+mn-lt"/>
              </a:rPr>
              <a:t>Embedding of formatted </a:t>
            </a:r>
            <a:r>
              <a:rPr lang="en-US" sz="1600" b="1" dirty="0" err="1">
                <a:ea typeface="+mn-lt"/>
                <a:cs typeface="+mn-lt"/>
              </a:rPr>
              <a:t>json</a:t>
            </a:r>
            <a:r>
              <a:rPr lang="en-US" sz="1600" b="1" dirty="0">
                <a:ea typeface="+mn-lt"/>
                <a:cs typeface="+mn-lt"/>
              </a:rPr>
              <a:t> data to vector-based data</a:t>
            </a:r>
          </a:p>
          <a:p>
            <a:pPr marL="342900" indent="-342900">
              <a:buAutoNum type="arabicPeriod"/>
            </a:pPr>
            <a:r>
              <a:rPr lang="en-US" sz="1600" dirty="0">
                <a:ea typeface="+mn-lt"/>
                <a:cs typeface="+mn-lt"/>
              </a:rPr>
              <a:t>Chunk text for embedding (define chunks and metadata)</a:t>
            </a:r>
          </a:p>
          <a:p>
            <a:pPr marL="342900" indent="-342900">
              <a:buAutoNum type="arabicPeriod"/>
            </a:pPr>
            <a:r>
              <a:rPr lang="en-US" sz="1600" dirty="0">
                <a:ea typeface="+mn-lt"/>
                <a:cs typeface="+mn-lt"/>
              </a:rPr>
              <a:t>Embed chunked text with (from </a:t>
            </a:r>
            <a:r>
              <a:rPr lang="en-US" sz="1600" dirty="0" err="1">
                <a:ea typeface="+mn-lt"/>
                <a:cs typeface="+mn-lt"/>
              </a:rPr>
              <a:t>sentence_transformers</a:t>
            </a:r>
            <a:r>
              <a:rPr lang="en-US" sz="1600" dirty="0">
                <a:ea typeface="+mn-lt"/>
                <a:cs typeface="+mn-lt"/>
              </a:rPr>
              <a:t> import </a:t>
            </a:r>
            <a:r>
              <a:rPr lang="en-US" sz="1600" dirty="0" err="1">
                <a:ea typeface="+mn-lt"/>
                <a:cs typeface="+mn-lt"/>
              </a:rPr>
              <a:t>SentenceTransformer</a:t>
            </a:r>
            <a:r>
              <a:rPr lang="en-US" sz="1600" dirty="0">
                <a:ea typeface="+mn-lt"/>
                <a:cs typeface="+mn-lt"/>
              </a:rPr>
              <a:t>)</a:t>
            </a:r>
          </a:p>
          <a:p>
            <a:pPr marL="342900" indent="-342900">
              <a:buAutoNum type="arabicPeriod"/>
            </a:pPr>
            <a:r>
              <a:rPr lang="en-US" sz="1600" dirty="0">
                <a:ea typeface="+mn-lt"/>
                <a:cs typeface="+mn-lt"/>
              </a:rPr>
              <a:t>Index with FAISS (act like a memory of a computer that handles and stores embedded data)</a:t>
            </a:r>
          </a:p>
          <a:p>
            <a:pPr marL="342900" indent="-342900">
              <a:buAutoNum type="arabicPeriod"/>
            </a:pPr>
            <a:r>
              <a:rPr lang="en-US" sz="1600" dirty="0">
                <a:ea typeface="+mn-lt"/>
                <a:cs typeface="+mn-lt"/>
              </a:rPr>
              <a:t>use </a:t>
            </a:r>
            <a:r>
              <a:rPr lang="en-US" sz="1600" dirty="0" err="1">
                <a:ea typeface="+mn-lt"/>
                <a:cs typeface="+mn-lt"/>
              </a:rPr>
              <a:t>LangChain</a:t>
            </a:r>
            <a:r>
              <a:rPr lang="en-US" sz="1600" dirty="0">
                <a:ea typeface="+mn-lt"/>
                <a:cs typeface="+mn-lt"/>
              </a:rPr>
              <a:t> for simulating the LLM workflow (from retrieving data to query output, with </a:t>
            </a:r>
            <a:r>
              <a:rPr lang="en-US" sz="1600" dirty="0" err="1">
                <a:ea typeface="+mn-lt"/>
                <a:cs typeface="+mn-lt"/>
              </a:rPr>
              <a:t>openAI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api</a:t>
            </a:r>
            <a:r>
              <a:rPr lang="en-US" sz="1600" dirty="0">
                <a:ea typeface="+mn-lt"/>
                <a:cs typeface="+mn-lt"/>
              </a:rPr>
              <a:t>, ready for RAG LLM)</a:t>
            </a:r>
          </a:p>
          <a:p>
            <a:r>
              <a:rPr lang="en-US" sz="1600" dirty="0">
                <a:ea typeface="+mn-lt"/>
                <a:cs typeface="+mn-lt"/>
              </a:rPr>
              <a:t>-Check if the previous process were completed in expectations</a:t>
            </a:r>
            <a:endParaRPr lang="en-US" dirty="0">
              <a:ea typeface="+mn-lt"/>
              <a:cs typeface="+mn-lt"/>
            </a:endParaRPr>
          </a:p>
          <a:p>
            <a:endParaRPr lang="en-US" sz="1600" b="1" dirty="0"/>
          </a:p>
          <a:p>
            <a:r>
              <a:rPr lang="en-US" sz="1600" b="1" dirty="0"/>
              <a:t>Few-shot Prompt Template Creations &amp; Quality Validation</a:t>
            </a:r>
          </a:p>
          <a:p>
            <a:pPr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 From </a:t>
            </a:r>
            <a:r>
              <a:rPr lang="en-US" sz="1600" dirty="0" err="1">
                <a:ea typeface="+mn-lt"/>
                <a:cs typeface="+mn-lt"/>
              </a:rPr>
              <a:t>langchain.prompts</a:t>
            </a:r>
            <a:r>
              <a:rPr lang="en-US" sz="1600" dirty="0">
                <a:ea typeface="+mn-lt"/>
                <a:cs typeface="+mn-lt"/>
              </a:rPr>
              <a:t> import </a:t>
            </a:r>
            <a:r>
              <a:rPr lang="en-US" sz="1600" dirty="0" err="1">
                <a:ea typeface="+mn-lt"/>
                <a:cs typeface="+mn-lt"/>
              </a:rPr>
              <a:t>PromptTemplate</a:t>
            </a:r>
            <a:endParaRPr lang="en-US" sz="16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 From jinja2 import Template</a:t>
            </a:r>
            <a:endParaRPr lang="en-US" dirty="0"/>
          </a:p>
          <a:p>
            <a:pPr marL="342900" indent="-342900">
              <a:buFont typeface="Arial"/>
              <a:buChar char="•"/>
            </a:pPr>
            <a:endParaRPr lang="en-US" sz="1600" dirty="0">
              <a:latin typeface="Aptos"/>
            </a:endParaRPr>
          </a:p>
          <a:p>
            <a:pPr marL="342900" indent="-342900">
              <a:buFont typeface="Arial"/>
              <a:buChar char="•"/>
            </a:pPr>
            <a:endParaRPr lang="en-US" sz="1600" dirty="0">
              <a:latin typeface="Consolas"/>
            </a:endParaRPr>
          </a:p>
        </p:txBody>
      </p:sp>
      <p:pic>
        <p:nvPicPr>
          <p:cNvPr id="2" name="Picture 1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A0B6A0EC-B4B0-8AE5-3448-77E928E1D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097" y="483519"/>
            <a:ext cx="5877595" cy="2568910"/>
          </a:xfrm>
          <a:prstGeom prst="rect">
            <a:avLst/>
          </a:prstGeom>
        </p:spPr>
      </p:pic>
      <p:pic>
        <p:nvPicPr>
          <p:cNvPr id="3" name="Picture 2" descr="A blue screen with white text&#10;&#10;AI-generated content may be incorrect.">
            <a:extLst>
              <a:ext uri="{FF2B5EF4-FFF2-40B4-BE49-F238E27FC236}">
                <a16:creationId xmlns:a16="http://schemas.microsoft.com/office/drawing/2014/main" id="{48DC01E8-2F09-B698-80EF-67093B6CD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630" y="5313864"/>
            <a:ext cx="4399214" cy="15442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D7C2B6-1C0A-E04F-8D2F-5455086FAEBF}"/>
              </a:ext>
            </a:extLst>
          </p:cNvPr>
          <p:cNvSpPr txBox="1"/>
          <p:nvPr/>
        </p:nvSpPr>
        <p:spPr>
          <a:xfrm>
            <a:off x="5786520" y="9758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Json format: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06DB05-8278-E09A-0043-0F3DACAC3E7C}"/>
              </a:ext>
            </a:extLst>
          </p:cNvPr>
          <p:cNvSpPr txBox="1"/>
          <p:nvPr/>
        </p:nvSpPr>
        <p:spPr>
          <a:xfrm>
            <a:off x="4148888" y="649437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Few-shot template: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00BC2-7956-7FCC-5EE7-3CEFC22C2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549" y="258800"/>
            <a:ext cx="10515600" cy="625585"/>
          </a:xfrm>
        </p:spPr>
        <p:txBody>
          <a:bodyPr>
            <a:normAutofit/>
          </a:bodyPr>
          <a:lstStyle/>
          <a:p>
            <a:r>
              <a:rPr lang="en-US" sz="2800" dirty="0"/>
              <a:t>Connect to Brightway2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2CB54-5781-E948-58E7-6E733C32C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328" y="1054765"/>
            <a:ext cx="10515600" cy="6549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/>
              <a:t>Explore Brightway2 to be a custom tool in </a:t>
            </a:r>
            <a:r>
              <a:rPr lang="en-US" sz="1800" dirty="0" err="1"/>
              <a:t>LangChain</a:t>
            </a:r>
            <a:r>
              <a:rPr lang="en-US" sz="1800" dirty="0"/>
              <a:t> to achieve tight automation of the whole process.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2053E4-E9B1-5D16-E883-FB16AEC6ACA7}"/>
              </a:ext>
            </a:extLst>
          </p:cNvPr>
          <p:cNvSpPr txBox="1"/>
          <p:nvPr/>
        </p:nvSpPr>
        <p:spPr>
          <a:xfrm>
            <a:off x="1547394" y="3250531"/>
            <a:ext cx="21716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RAG LLM model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8EB5706-CBB2-E3B4-E7C3-E15F940D8D61}"/>
              </a:ext>
            </a:extLst>
          </p:cNvPr>
          <p:cNvSpPr/>
          <p:nvPr/>
        </p:nvSpPr>
        <p:spPr>
          <a:xfrm>
            <a:off x="3719762" y="3304673"/>
            <a:ext cx="584199" cy="31749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8704CFC-CC4F-85CB-27C0-D72691CE0244}"/>
              </a:ext>
            </a:extLst>
          </p:cNvPr>
          <p:cNvSpPr/>
          <p:nvPr/>
        </p:nvSpPr>
        <p:spPr>
          <a:xfrm>
            <a:off x="6928182" y="3331410"/>
            <a:ext cx="584199" cy="31749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D14FE5-27F2-D3BE-5BCB-A0E194DA98C7}"/>
              </a:ext>
            </a:extLst>
          </p:cNvPr>
          <p:cNvSpPr txBox="1"/>
          <p:nvPr/>
        </p:nvSpPr>
        <p:spPr>
          <a:xfrm>
            <a:off x="7790446" y="3297320"/>
            <a:ext cx="21716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RAG LLM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546A10-6A83-D956-37B6-67ED2CDB438C}"/>
              </a:ext>
            </a:extLst>
          </p:cNvPr>
          <p:cNvSpPr txBox="1"/>
          <p:nvPr/>
        </p:nvSpPr>
        <p:spPr>
          <a:xfrm>
            <a:off x="4622130" y="3297319"/>
            <a:ext cx="21716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Brightway2 Engine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EF1FE77-E704-D667-7633-EA873B384423}"/>
              </a:ext>
            </a:extLst>
          </p:cNvPr>
          <p:cNvSpPr txBox="1"/>
          <p:nvPr/>
        </p:nvSpPr>
        <p:spPr>
          <a:xfrm>
            <a:off x="1990725" y="3666651"/>
            <a:ext cx="764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/>
              <a:t>(Rain)</a:t>
            </a:r>
            <a:endParaRPr lang="zh-HK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42687D0-81DF-7FE2-9EDE-AC6060E19A8A}"/>
              </a:ext>
            </a:extLst>
          </p:cNvPr>
          <p:cNvSpPr txBox="1"/>
          <p:nvPr/>
        </p:nvSpPr>
        <p:spPr>
          <a:xfrm>
            <a:off x="5229225" y="3679393"/>
            <a:ext cx="841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/>
              <a:t>(</a:t>
            </a:r>
            <a:r>
              <a:rPr lang="en-US" altLang="zh-HK" dirty="0" err="1"/>
              <a:t>Feiya</a:t>
            </a:r>
            <a:r>
              <a:rPr lang="en-US" altLang="zh-HK" dirty="0"/>
              <a:t>)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661744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7126A3-1547-71C0-8601-AEFE5482B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325437"/>
            <a:ext cx="10515600" cy="711200"/>
          </a:xfrm>
        </p:spPr>
        <p:txBody>
          <a:bodyPr>
            <a:normAutofit/>
          </a:bodyPr>
          <a:lstStyle/>
          <a:p>
            <a:r>
              <a:rPr lang="en-US" altLang="zh-HK" sz="3600" dirty="0"/>
              <a:t>Progress:</a:t>
            </a:r>
            <a:endParaRPr lang="zh-HK" altLang="en-US" sz="36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BD53F2-A1C0-C518-ED54-19181D11C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253331"/>
            <a:ext cx="10515600" cy="4351338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altLang="zh-HK" sz="2000" b="1" dirty="0"/>
              <a:t>7/7 - 14/7</a:t>
            </a:r>
          </a:p>
          <a:p>
            <a:pPr lvl="1"/>
            <a:r>
              <a:rPr lang="en-US" altLang="zh-HK" sz="1800" dirty="0"/>
              <a:t>Learned the crucial components of RAG LLM</a:t>
            </a:r>
          </a:p>
          <a:p>
            <a:pPr lvl="1"/>
            <a:r>
              <a:rPr lang="en-US" altLang="zh-HK" sz="1800" dirty="0"/>
              <a:t>Built the foundation framework of the RAG LLM from text extraction to query</a:t>
            </a:r>
          </a:p>
          <a:p>
            <a:pPr lvl="2"/>
            <a:r>
              <a:rPr lang="en-US" altLang="zh-HK" sz="1400" dirty="0"/>
              <a:t>Text Extraction</a:t>
            </a:r>
          </a:p>
          <a:p>
            <a:pPr lvl="2"/>
            <a:r>
              <a:rPr lang="en-US" altLang="zh-HK" sz="1400" dirty="0"/>
              <a:t>Structured text into different categories: title, source, sections: introduction, results…</a:t>
            </a:r>
          </a:p>
          <a:p>
            <a:pPr lvl="2"/>
            <a:r>
              <a:rPr lang="en-US" altLang="zh-HK" sz="1400" dirty="0"/>
              <a:t>Write vector-based index based on extracted text </a:t>
            </a:r>
          </a:p>
          <a:p>
            <a:pPr lvl="2"/>
            <a:r>
              <a:rPr lang="en-US" altLang="zh-HK" sz="1400" dirty="0"/>
              <a:t>Incorporating our vector-based indexes with local serving LLM to generate technical outputs </a:t>
            </a:r>
          </a:p>
        </p:txBody>
      </p:sp>
    </p:spTree>
    <p:extLst>
      <p:ext uri="{BB962C8B-B14F-4D97-AF65-F5344CB8AC3E}">
        <p14:creationId xmlns:p14="http://schemas.microsoft.com/office/powerpoint/2010/main" val="4000445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0B11DC-7E91-5E2A-9884-47EEF573A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138704"/>
            <a:ext cx="10515600" cy="688612"/>
          </a:xfrm>
        </p:spPr>
        <p:txBody>
          <a:bodyPr>
            <a:normAutofit/>
          </a:bodyPr>
          <a:lstStyle/>
          <a:p>
            <a:r>
              <a:rPr lang="en-US" altLang="zh-HK" sz="3600" dirty="0"/>
              <a:t>Process pdf to structured data</a:t>
            </a:r>
            <a:endParaRPr lang="zh-HK" altLang="en-US" sz="36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754CFA6-6FF5-4B9F-9EE5-3E2A6F029B12}"/>
              </a:ext>
            </a:extLst>
          </p:cNvPr>
          <p:cNvSpPr txBox="1"/>
          <p:nvPr/>
        </p:nvSpPr>
        <p:spPr>
          <a:xfrm>
            <a:off x="350520" y="827316"/>
            <a:ext cx="635597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 and categorize the academic journals:</a:t>
            </a:r>
          </a:p>
          <a:p>
            <a:endParaRPr lang="en-US" altLang="zh-HK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altLang="zh-HK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  <a:p>
            <a:pPr marL="285750" indent="-285750">
              <a:buFontTx/>
              <a:buChar char="-"/>
            </a:pPr>
            <a:r>
              <a:rPr lang="en-US" altLang="zh-HK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</a:t>
            </a:r>
          </a:p>
          <a:p>
            <a:pPr marL="285750" indent="-285750">
              <a:buFontTx/>
              <a:buChar char="-"/>
            </a:pPr>
            <a:r>
              <a:rPr lang="en-US" altLang="zh-HK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</a:t>
            </a:r>
          </a:p>
          <a:p>
            <a:pPr marL="285750" indent="-285750">
              <a:buFontTx/>
              <a:buChar char="-"/>
            </a:pPr>
            <a:r>
              <a:rPr lang="en-US" altLang="zh-HK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</a:t>
            </a:r>
          </a:p>
          <a:p>
            <a:pPr marL="285750" indent="-285750">
              <a:buFontTx/>
              <a:buChar char="-"/>
            </a:pPr>
            <a:r>
              <a:rPr lang="en-US" altLang="zh-HK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Published Date</a:t>
            </a:r>
          </a:p>
          <a:p>
            <a:pPr marL="285750" indent="-285750">
              <a:buFontTx/>
              <a:buChar char="-"/>
            </a:pPr>
            <a:endParaRPr lang="en-US" altLang="zh-HK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altLang="zh-HK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Sections (Text pattern)</a:t>
            </a:r>
          </a:p>
          <a:p>
            <a:pPr marL="742950" lvl="1" indent="-285750">
              <a:buFontTx/>
              <a:buChar char="-"/>
            </a:pPr>
            <a:r>
              <a:rPr lang="en-US" altLang="zh-HK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Abstract</a:t>
            </a:r>
          </a:p>
          <a:p>
            <a:pPr marL="742950" lvl="1" indent="-285750">
              <a:buFontTx/>
              <a:buChar char="-"/>
            </a:pPr>
            <a:r>
              <a:rPr lang="en-US" altLang="zh-HK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pPr marL="742950" lvl="1" indent="-285750">
              <a:buFontTx/>
              <a:buChar char="-"/>
            </a:pPr>
            <a:r>
              <a:rPr lang="en-US" altLang="zh-HK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</a:t>
            </a:r>
          </a:p>
          <a:p>
            <a:pPr marL="742950" lvl="1" indent="-285750">
              <a:buFontTx/>
              <a:buChar char="-"/>
            </a:pPr>
            <a:r>
              <a:rPr lang="en-US" altLang="zh-HK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</a:p>
          <a:p>
            <a:pPr marL="742950" lvl="1" indent="-285750">
              <a:buFontTx/>
              <a:buChar char="-"/>
            </a:pPr>
            <a:r>
              <a:rPr lang="en-US" altLang="zh-HK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Discussion</a:t>
            </a:r>
          </a:p>
          <a:p>
            <a:pPr marL="742950" lvl="1" indent="-285750">
              <a:buFontTx/>
              <a:buChar char="-"/>
            </a:pPr>
            <a:r>
              <a:rPr lang="en-US" altLang="zh-HK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742950" lvl="1" indent="-285750">
              <a:buFontTx/>
              <a:buChar char="-"/>
            </a:pPr>
            <a:endParaRPr lang="en-US" altLang="zh-HK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altLang="zh-HK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Entities (Assisted by local AI)</a:t>
            </a:r>
          </a:p>
          <a:p>
            <a:pPr marL="742950" lvl="1" indent="-285750">
              <a:buFontTx/>
              <a:buChar char="-"/>
            </a:pPr>
            <a:r>
              <a:rPr lang="en-US" altLang="zh-HK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</a:t>
            </a:r>
          </a:p>
          <a:p>
            <a:pPr marL="1200150" lvl="2" indent="-285750">
              <a:buFontTx/>
              <a:buChar char="-"/>
            </a:pPr>
            <a:r>
              <a:rPr lang="en-US" altLang="zh-HK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boundary, functional units, impact category…</a:t>
            </a:r>
          </a:p>
          <a:p>
            <a:pPr marL="742950" lvl="1" indent="-285750">
              <a:buFontTx/>
              <a:buChar char="-"/>
            </a:pPr>
            <a:r>
              <a:rPr lang="en-US" altLang="zh-HK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</a:p>
          <a:p>
            <a:pPr marL="1200150" lvl="2" indent="-285750">
              <a:buFontTx/>
              <a:buChar char="-"/>
            </a:pPr>
            <a:r>
              <a:rPr lang="en-US" altLang="zh-HK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Scopes, 1 ton of coke, Emissions to air…</a:t>
            </a:r>
            <a:endParaRPr lang="zh-HK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90C43C8-09EB-228F-25D2-E5D55F466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133" y="4714240"/>
            <a:ext cx="5404344" cy="1883136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F62A603D-BF15-C2D7-F47D-13A4838B8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226000"/>
            <a:ext cx="5858827" cy="300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100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97B03F-667F-512B-7038-843995390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14325"/>
            <a:ext cx="10515600" cy="518795"/>
          </a:xfrm>
        </p:spPr>
        <p:txBody>
          <a:bodyPr>
            <a:normAutofit fontScale="90000"/>
          </a:bodyPr>
          <a:lstStyle/>
          <a:p>
            <a:r>
              <a:rPr lang="en-US" altLang="zh-HK" sz="3200" dirty="0"/>
              <a:t>Local models for entities extraction and responding query</a:t>
            </a:r>
            <a:endParaRPr lang="zh-HK" altLang="en-US" sz="32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E659C42-18C2-73DF-54C2-E03036EBB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950703"/>
            <a:ext cx="9046934" cy="1763943"/>
          </a:xfrm>
          <a:prstGeom prst="rect">
            <a:avLst/>
          </a:prstGeom>
        </p:spPr>
      </p:pic>
      <p:pic>
        <p:nvPicPr>
          <p:cNvPr id="1026" name="Picture 2" descr="Run Your Local AI with Ollama. Ollama is an amazing tool! Using… | by Ria  Banerjee | Medium">
            <a:extLst>
              <a:ext uri="{FF2B5EF4-FFF2-40B4-BE49-F238E27FC236}">
                <a16:creationId xmlns:a16="http://schemas.microsoft.com/office/drawing/2014/main" id="{41771A51-D631-1F71-203C-4831DB628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55" y="763022"/>
            <a:ext cx="2128889" cy="2128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60CC4153-9F78-C9D2-5F15-B99AC7EC8A89}"/>
              </a:ext>
            </a:extLst>
          </p:cNvPr>
          <p:cNvSpPr txBox="1"/>
          <p:nvPr/>
        </p:nvSpPr>
        <p:spPr>
          <a:xfrm>
            <a:off x="690906" y="2750325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400" b="1" dirty="0" err="1"/>
              <a:t>Ollama</a:t>
            </a:r>
            <a:endParaRPr lang="zh-HK" altLang="en-US" sz="24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652066F-1C41-6484-DA8B-7946271938D8}"/>
              </a:ext>
            </a:extLst>
          </p:cNvPr>
          <p:cNvSpPr txBox="1"/>
          <p:nvPr/>
        </p:nvSpPr>
        <p:spPr>
          <a:xfrm>
            <a:off x="381000" y="3309650"/>
            <a:ext cx="50729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/>
              <a:t>Providing tools for downloading local LLM models</a:t>
            </a:r>
          </a:p>
          <a:p>
            <a:endParaRPr lang="en-US" altLang="zh-HK" dirty="0"/>
          </a:p>
          <a:p>
            <a:r>
              <a:rPr lang="en-US" altLang="zh-HK" dirty="0"/>
              <a:t>Model using: </a:t>
            </a:r>
            <a:r>
              <a:rPr lang="en-US" altLang="zh-HK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Deepseek-R1:8b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A4C1B3C-24BF-4B6A-A724-B4498C58E19A}"/>
              </a:ext>
            </a:extLst>
          </p:cNvPr>
          <p:cNvSpPr txBox="1"/>
          <p:nvPr/>
        </p:nvSpPr>
        <p:spPr>
          <a:xfrm>
            <a:off x="328466" y="4612149"/>
            <a:ext cx="19338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1600" b="1" dirty="0"/>
              <a:t>Extracting entities:</a:t>
            </a:r>
            <a:endParaRPr lang="zh-HK" altLang="en-US" sz="1600" b="1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FDAB1135-9F81-B115-EC96-76D7A9E24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2634" y="1094956"/>
            <a:ext cx="6238411" cy="351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588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B60ADF-ECFF-5831-0362-FD10DD0A2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201124"/>
            <a:ext cx="10515600" cy="614681"/>
          </a:xfrm>
        </p:spPr>
        <p:txBody>
          <a:bodyPr>
            <a:normAutofit/>
          </a:bodyPr>
          <a:lstStyle/>
          <a:p>
            <a:r>
              <a:rPr lang="en-US" altLang="zh-HK" sz="3200" dirty="0"/>
              <a:t>Write Index (Text -&gt; Vector)</a:t>
            </a:r>
            <a:endParaRPr lang="zh-HK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9BEF2E-E3A9-7DA5-A9CB-816969E76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25" y="81580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altLang="zh-HK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 </a:t>
            </a:r>
            <a:r>
              <a:rPr lang="en-US" altLang="zh-HK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json</a:t>
            </a:r>
            <a:r>
              <a:rPr lang="en-US" altLang="zh-HK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files to vector-based indexes</a:t>
            </a:r>
          </a:p>
          <a:p>
            <a:pPr marL="457200" indent="-457200">
              <a:buAutoNum type="arabicPeriod"/>
            </a:pPr>
            <a:r>
              <a:rPr lang="en-US" altLang="zh-HK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 Index</a:t>
            </a:r>
          </a:p>
          <a:p>
            <a:pPr lvl="1"/>
            <a:r>
              <a:rPr lang="en-US" altLang="zh-HK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</a:t>
            </a:r>
            <a:r>
              <a:rPr lang="en-US" altLang="zh-HK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Deepseek-R1:8b</a:t>
            </a:r>
          </a:p>
          <a:p>
            <a:pPr lvl="1"/>
            <a:r>
              <a:rPr lang="en-US" altLang="zh-HK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Retriever: Our vector-based indexes</a:t>
            </a:r>
          </a:p>
          <a:p>
            <a:pPr lvl="1"/>
            <a:endParaRPr lang="en-US" altLang="zh-HK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altLang="zh-HK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Output: {Think, Results}</a:t>
            </a:r>
          </a:p>
          <a:p>
            <a:pPr marL="0" indent="0">
              <a:buNone/>
            </a:pPr>
            <a:endParaRPr lang="en-US" altLang="zh-HK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C06340A-EE34-9A19-4A1A-9D8EC801B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831" y="1430486"/>
            <a:ext cx="2673487" cy="84459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82B44AB-98E8-F779-6DB2-907E64970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59" y="2889760"/>
            <a:ext cx="9543929" cy="390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511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55E712-840E-564E-6D15-97BE1AADD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9876"/>
            <a:ext cx="10515600" cy="635000"/>
          </a:xfrm>
        </p:spPr>
        <p:txBody>
          <a:bodyPr>
            <a:normAutofit fontScale="90000"/>
          </a:bodyPr>
          <a:lstStyle/>
          <a:p>
            <a:r>
              <a:rPr lang="en-US" altLang="zh-HK" sz="4000" dirty="0"/>
              <a:t>Challenges</a:t>
            </a:r>
            <a:endParaRPr lang="zh-HK" altLang="en-US" sz="4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D3B0C1-4714-B0A6-8EA4-398FE070D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737" y="1044575"/>
            <a:ext cx="10515600" cy="395605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zh-HK" sz="2400" dirty="0"/>
              <a:t>Local LLM processing speed</a:t>
            </a:r>
          </a:p>
          <a:p>
            <a:pPr marL="0" indent="0">
              <a:buNone/>
            </a:pPr>
            <a:endParaRPr lang="en-US" altLang="zh-HK" sz="2400" dirty="0"/>
          </a:p>
          <a:p>
            <a:r>
              <a:rPr lang="en-US" altLang="zh-HK" sz="1600" dirty="0"/>
              <a:t>Need good performance RAM and GPU for handling queries.</a:t>
            </a:r>
          </a:p>
          <a:p>
            <a:endParaRPr lang="en-US" altLang="zh-HK" sz="1600" dirty="0"/>
          </a:p>
          <a:p>
            <a:r>
              <a:rPr lang="en-US" altLang="zh-HK" sz="1600" dirty="0"/>
              <a:t>LLM duties:</a:t>
            </a:r>
          </a:p>
          <a:p>
            <a:pPr lvl="1"/>
            <a:r>
              <a:rPr lang="en-US" altLang="zh-HK" sz="1400" dirty="0"/>
              <a:t>Identify the important entities described in the academic sources</a:t>
            </a:r>
          </a:p>
          <a:p>
            <a:pPr lvl="1"/>
            <a:r>
              <a:rPr lang="en-US" altLang="zh-HK" sz="1400" dirty="0"/>
              <a:t>Incorporating with our vector-based indexes for </a:t>
            </a:r>
            <a:r>
              <a:rPr lang="en-US" altLang="zh-HK" sz="1400"/>
              <a:t>generating results</a:t>
            </a:r>
            <a:endParaRPr lang="en-US" altLang="zh-HK" sz="1400" dirty="0"/>
          </a:p>
          <a:p>
            <a:pPr lvl="1"/>
            <a:endParaRPr lang="en-US" altLang="zh-HK" sz="1400" dirty="0"/>
          </a:p>
          <a:p>
            <a:pPr lvl="2"/>
            <a:endParaRPr lang="en-US" altLang="zh-HK" sz="1600" dirty="0"/>
          </a:p>
          <a:p>
            <a:pPr marL="914400" lvl="2" indent="0">
              <a:buNone/>
            </a:pPr>
            <a:endParaRPr lang="en-US" altLang="zh-HK" sz="1600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254FF382-29AA-0D1B-EAE1-08D09DABA892}"/>
              </a:ext>
            </a:extLst>
          </p:cNvPr>
          <p:cNvSpPr txBox="1">
            <a:spLocks/>
          </p:cNvSpPr>
          <p:nvPr/>
        </p:nvSpPr>
        <p:spPr>
          <a:xfrm>
            <a:off x="371475" y="2466975"/>
            <a:ext cx="10144125" cy="1393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buNone/>
            </a:pPr>
            <a:endParaRPr lang="en-US" altLang="zh-HK" sz="1600" dirty="0"/>
          </a:p>
          <a:p>
            <a:pPr marL="914400" lvl="2" indent="0">
              <a:buFont typeface="Arial" panose="020B0604020202020204" pitchFamily="34" charset="0"/>
              <a:buNone/>
            </a:pPr>
            <a:endParaRPr lang="en-US" altLang="zh-HK" sz="16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493F94A-7C38-90EF-091D-C977B742D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779" y="904876"/>
            <a:ext cx="5320664" cy="295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571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18E237-C810-AD92-E805-40BA0D49F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454" y="255577"/>
            <a:ext cx="10515600" cy="662698"/>
          </a:xfrm>
        </p:spPr>
        <p:txBody>
          <a:bodyPr>
            <a:normAutofit/>
          </a:bodyPr>
          <a:lstStyle/>
          <a:p>
            <a:r>
              <a:rPr lang="en-US" altLang="zh-HK" sz="3200" dirty="0"/>
              <a:t>Integrating query methods to enhance output accuracy</a:t>
            </a:r>
            <a:endParaRPr lang="zh-HK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F5B4FF-0E9F-8EFD-F5AC-95D46B59E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zh-HK" dirty="0"/>
              <a:t>Multi-query</a:t>
            </a:r>
          </a:p>
          <a:p>
            <a:pPr marL="514350" indent="-514350">
              <a:buAutoNum type="arabicPeriod"/>
            </a:pPr>
            <a:endParaRPr lang="en-US" altLang="zh-HK" dirty="0"/>
          </a:p>
          <a:p>
            <a:pPr marL="514350" indent="-514350">
              <a:buAutoNum type="arabicPeriod"/>
            </a:pPr>
            <a:r>
              <a:rPr lang="en-US" altLang="zh-HK" dirty="0"/>
              <a:t>Ranked query</a:t>
            </a:r>
          </a:p>
          <a:p>
            <a:pPr marL="514350" indent="-514350">
              <a:buAutoNum type="arabicPeriod"/>
            </a:pPr>
            <a:endParaRPr lang="en-US" altLang="zh-HK" dirty="0"/>
          </a:p>
          <a:p>
            <a:pPr marL="514350" indent="-514350">
              <a:buAutoNum type="arabicPeriod"/>
            </a:pPr>
            <a:r>
              <a:rPr lang="en-US" altLang="zh-HK" dirty="0" err="1"/>
              <a:t>HyDE</a:t>
            </a:r>
            <a:endParaRPr lang="en-US" altLang="zh-HK" dirty="0"/>
          </a:p>
          <a:p>
            <a:pPr marL="514350" indent="-514350">
              <a:buAutoNum type="arabicPeriod"/>
            </a:pPr>
            <a:endParaRPr lang="zh-HK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2C38867-3897-A39D-1CE3-0B670D4CB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157" y="1095575"/>
            <a:ext cx="5893766" cy="454661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D2B7AD45-58D9-65A2-FEDB-327E9ABC65B6}"/>
              </a:ext>
            </a:extLst>
          </p:cNvPr>
          <p:cNvSpPr txBox="1"/>
          <p:nvPr/>
        </p:nvSpPr>
        <p:spPr>
          <a:xfrm>
            <a:off x="82739" y="6417757"/>
            <a:ext cx="6094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HK" b="0" i="0" u="none" strike="noStrike">
                <a:effectLst/>
                <a:latin typeface="system-u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HyDE: https://arxiv.org/abs/2212.10496</a:t>
            </a:r>
            <a:endParaRPr lang="en-US" altLang="zh-HK" b="0" i="0" dirty="0">
              <a:effectLst/>
              <a:latin typeface="system-ui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9862721-03A4-9139-7AD0-B639AA4DE6E9}"/>
              </a:ext>
            </a:extLst>
          </p:cNvPr>
          <p:cNvSpPr txBox="1"/>
          <p:nvPr/>
        </p:nvSpPr>
        <p:spPr>
          <a:xfrm>
            <a:off x="5990455" y="1151230"/>
            <a:ext cx="60969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b="1" dirty="0" err="1"/>
              <a:t>HyDE</a:t>
            </a:r>
            <a:r>
              <a:rPr lang="en-US" altLang="zh-HK" b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101125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14C6204C-B8DB-51A2-533B-DB7DDA307FF5}"/>
              </a:ext>
            </a:extLst>
          </p:cNvPr>
          <p:cNvSpPr txBox="1"/>
          <p:nvPr/>
        </p:nvSpPr>
        <p:spPr>
          <a:xfrm flipH="1">
            <a:off x="551195" y="744015"/>
            <a:ext cx="1016602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/>
              <a:t>What have been done?</a:t>
            </a:r>
          </a:p>
          <a:p>
            <a:pPr marL="342900" indent="-342900">
              <a:buAutoNum type="arabicPeriod"/>
            </a:pPr>
            <a:r>
              <a:rPr lang="en-US" altLang="zh-HK" dirty="0"/>
              <a:t>Changing from </a:t>
            </a:r>
            <a:r>
              <a:rPr lang="en-US" altLang="zh-HK" dirty="0" err="1"/>
              <a:t>Ollama</a:t>
            </a:r>
            <a:r>
              <a:rPr lang="en-US" altLang="zh-HK" dirty="0"/>
              <a:t> local LLM to </a:t>
            </a:r>
            <a:r>
              <a:rPr lang="en-US" altLang="zh-HK" dirty="0" err="1"/>
              <a:t>HuggingFace</a:t>
            </a:r>
            <a:r>
              <a:rPr lang="en-US" altLang="zh-HK" dirty="0"/>
              <a:t> LLM library (python library)</a:t>
            </a:r>
          </a:p>
          <a:p>
            <a:endParaRPr lang="en-US" altLang="zh-HK" dirty="0"/>
          </a:p>
          <a:p>
            <a:r>
              <a:rPr lang="en-US" altLang="zh-HK" dirty="0"/>
              <a:t>To be done:</a:t>
            </a:r>
          </a:p>
          <a:p>
            <a:pPr marL="342900" indent="-342900">
              <a:buAutoNum type="arabicPeriod"/>
            </a:pPr>
            <a:r>
              <a:rPr lang="en-US" altLang="zh-HK" dirty="0"/>
              <a:t>Testing the </a:t>
            </a:r>
            <a:r>
              <a:rPr lang="en-US" altLang="zh-HK" dirty="0" err="1"/>
              <a:t>huggingface</a:t>
            </a:r>
            <a:r>
              <a:rPr lang="en-US" altLang="zh-HK" dirty="0"/>
              <a:t> within a day </a:t>
            </a:r>
          </a:p>
          <a:p>
            <a:pPr marL="342900" indent="-342900">
              <a:buAutoNum type="arabicPeriod"/>
            </a:pPr>
            <a:r>
              <a:rPr lang="en-US" altLang="zh-HK" dirty="0"/>
              <a:t>Integrate with the </a:t>
            </a:r>
            <a:r>
              <a:rPr lang="en-US" altLang="zh-HK" dirty="0" err="1"/>
              <a:t>json</a:t>
            </a:r>
            <a:r>
              <a:rPr lang="en-US" altLang="zh-HK" dirty="0"/>
              <a:t> input and output format of brightway2 engine (Tiangong and </a:t>
            </a:r>
            <a:r>
              <a:rPr lang="en-US" altLang="zh-HK" dirty="0" err="1"/>
              <a:t>Ecoinvent</a:t>
            </a:r>
            <a:r>
              <a:rPr lang="en-US" altLang="zh-HK" dirty="0"/>
              <a:t>)</a:t>
            </a:r>
          </a:p>
          <a:p>
            <a:pPr marL="342900" indent="-342900">
              <a:buAutoNum type="arabicPeriod"/>
            </a:pPr>
            <a:endParaRPr lang="en-US" altLang="zh-HK" dirty="0"/>
          </a:p>
          <a:p>
            <a:pPr marL="342900" indent="-342900">
              <a:buAutoNum type="arabicPeriod"/>
            </a:pPr>
            <a:endParaRPr lang="en-US" altLang="zh-HK" dirty="0"/>
          </a:p>
          <a:p>
            <a:r>
              <a:rPr lang="en-US" altLang="zh-HK" dirty="0"/>
              <a:t>Observations:</a:t>
            </a:r>
          </a:p>
          <a:p>
            <a:pPr marL="342900" indent="-342900">
              <a:buAutoNum type="arabicPeriod"/>
            </a:pPr>
            <a:r>
              <a:rPr lang="en-US" altLang="zh-HK" dirty="0"/>
              <a:t>The SEE cluster does not operate on weekends.</a:t>
            </a:r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584910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435</TotalTime>
  <Words>497</Words>
  <Application>Microsoft Office PowerPoint</Application>
  <PresentationFormat>寬螢幕</PresentationFormat>
  <Paragraphs>103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system-ui</vt:lpstr>
      <vt:lpstr>Aptos</vt:lpstr>
      <vt:lpstr>Aptos Display</vt:lpstr>
      <vt:lpstr>Arial</vt:lpstr>
      <vt:lpstr>Calibri</vt:lpstr>
      <vt:lpstr>Consolas</vt:lpstr>
      <vt:lpstr>office theme</vt:lpstr>
      <vt:lpstr>PowerPoint 簡報</vt:lpstr>
      <vt:lpstr>Connect to Brightway2 Engine</vt:lpstr>
      <vt:lpstr>Progress:</vt:lpstr>
      <vt:lpstr>Process pdf to structured data</vt:lpstr>
      <vt:lpstr>Local models for entities extraction and responding query</vt:lpstr>
      <vt:lpstr>Write Index (Text -&gt; Vector)</vt:lpstr>
      <vt:lpstr>Challenges</vt:lpstr>
      <vt:lpstr>Integrating query methods to enhance output accuracy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Ho Yeung Chan</cp:lastModifiedBy>
  <cp:revision>189</cp:revision>
  <dcterms:created xsi:type="dcterms:W3CDTF">2025-07-05T16:13:18Z</dcterms:created>
  <dcterms:modified xsi:type="dcterms:W3CDTF">2025-07-27T18:53:26Z</dcterms:modified>
</cp:coreProperties>
</file>